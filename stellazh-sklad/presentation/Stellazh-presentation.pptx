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aa6b237c-f4a4-a88f-473d-05657af6014e}">
          <p14:sldIdLst>
            <p14:sldId id="256"/>
            <p14:sldId id="257"/>
            <p14:sldId id="258"/>
          </p14:sldIdLst>
        </p14:section>
        <p14:section name="Проект" id="{f29ea8a3-38a5-d513-666b-a6e1e9228378}">
          <p14:sldIdLst>
            <p14:sldId id="259"/>
            <p14:sldId id="260"/>
            <p14:sldId id="261"/>
            <p14:sldId id="262"/>
          </p14:sldIdLst>
        </p14:section>
        <p14:section name="Итоги" id="{bfe28b45-60e8-527a-a88d-32798ba24cd6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51B26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51B26"/>
                </a:solidFill>
                <a:latin typeface="+mn-lt"/>
              </a:rPr>
              <a:t>Тесты по типам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Тесты</c:v>
                </c:pt>
              </c:strCache>
            </c:strRef>
          </c:tx>
          <c:spPr>
            <a:solidFill>
              <a:srgbClr val="2B34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51B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Граничные</c:v>
                  </c:pt>
                  <c:pt idx="1">
                    <c:v>Ошибочный ввод</c:v>
                  </c:pt>
                  <c:pt idx="2">
                    <c:v>Основные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51B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51B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Моя тема — учёт складских запасов. Я сделал веб-приложение «Стеллаж», где остатки меняются только документами: приходной накладной и актом списания, а система не даёт списать больше, чем есть. Цветные шкалы справа — это тот же индикатор уровня запаса, что и в интерфейсе.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знакома любому небольшому складу: в тетради или в Excel ничего не проверяется. Остатки уходят в минус, нет истории изменений, а о дефиците узнают в момент отгрузки. Цель проекта — сделать учёт через документы с жёстким контролем остатка. Пользователи — кладовщик, закупщик и руководитель.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сравнил четыре аналога. МойСклад и Odoo — профессиональные системы с документами и справочниками, но для небольшого склада и для учёбы они избыточны. MyBuh.kz — казахстанский сервис с накладными. Excel прост, но ничего не проверяет. Мой проект берёт ядро профессиональных систем и делает его понятным и лёгким.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Сформулировано восемь функциональных и пять нефункциональных требований. Главные — документы прихода и списания и контроль остатка. Среди нефункциональных: работа без установки, локальное хранение без персональных данных и отделение логики от интерфейса, чтобы её можно было тестировать. Подробности и критерии приёмки — в папке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жизненного цикла — инкрементная. Было пять версий: сначала остатки и поиск, затем документы, контрагенты, правка проведённых документов и контроль остатка с тестами. Каждая версия работала, а требования уточнялись по результатам просмотра. Справа архитектура: интерфейс, слой app.js, отдельный слой logic.js без обращения к DOM и хранилище. Благодаря этому логику можно проверять тестами в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— это массивы объектов: позиции, документы со строками, контрагенты и журнал. Состояния описаны перечислениями. Ключевой алгоритм — проведение документа по принципу «всё или ничего»: первым циклом проверяются все строки, и только если ошибок нет, вторым циклом меняются остатки и пишется журнал. Поэтому остатки никогда не окажутся в полупроведённом состоянии. Здесь же применены циклы, функции, массивы, работа со строками и перечисления из лекций 4–8.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я показываю работающее приложение. Сначала поиск и фильтр на странице остатков. Затем открываю черновик накладной ПН-0003 и провожу его — остатки растут. Создаю акт списания и ввожу 500 штук плёнки: строка краснеет, система показывает, сколько не хватает, и документ не проводится. Списываю 15 — документ проходит, но выводится предупреждение о минимуме. В конце редактирую проведённый документ и показываю журнал операций.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Протокол содержит восемнадцать автоматических тестов: семь основных сценариев, восемь случаев ошибочного ввода и три граничных. Все проходят, запуск командой npm test. По ходу разработки я нашёл четыре недостатка и устранил их в следующих инкрементах: не было документов, поставщик вводился текстом, нельзя было править проведённое и нехватка остатка была видна слишком поздно. Таблица тестов — в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оформлен как репозиторий: исходный код в src, тесты в tests, документация в docs, скриншоты и презентация в своих папках. В README есть цель, анализ аналогов, инструкция запуска, таблица тестов и список дефектов. История коммитов повторяет пять инкрементов разработки. Свой вклад: назвать, что сделано лично и какие решения принимались.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приложение закрывает задачу темы — поступление, списание, контроль остатка и поиск — и делает это через документы, как в настоящих складских системах. Логика проверена автоматическими тестами. Дальше можно добавить серверную часть, роли, контроль остатка на дату и обмен с Excel. Спасибо за внимание.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Стеллаж · СРО · Тема №8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5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5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СРО · Языки и технология программирования · Тема №8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Стеллаж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BD2DE"/>
                </a:solidFill>
              </a:rPr>
              <a:t>Информационная система учёта складских запасов: приход, списание, контроль остатка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BD2DE"/>
                </a:solidFill>
              </a:rPr>
              <a:t>Автор: [ФИО студента], группа [____]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BD2DE"/>
                </a:solidFill>
              </a:rPr>
              <a:t>Преподаватель: [ФИО]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A6"/>
                </a:solidFill>
              </a:rPr>
              <a:t>Октябрь 2026</a:t>
            </a:r>
            <a:endParaRPr lang="en-US" sz="1400" dirty="0"/>
          </a:p>
        </p:txBody>
      </p:sp>
      <p:sp>
        <p:nvSpPr>
          <p:cNvPr id="7" name="Шкала 1-1"/>
          <p:cNvSpPr/>
          <p:nvPr/>
        </p:nvSpPr>
        <p:spPr>
          <a:xfrm>
            <a:off x="7955280" y="1737360"/>
            <a:ext cx="402336" cy="566928"/>
          </a:xfrm>
          <a:prstGeom prst="rect">
            <a:avLst/>
          </a:prstGeom>
          <a:solidFill>
            <a:srgbClr val="FFC31F"/>
          </a:solidFill>
          <a:ln/>
        </p:spPr>
      </p:sp>
      <p:sp>
        <p:nvSpPr>
          <p:cNvPr id="8" name="Шкала 1-2"/>
          <p:cNvSpPr/>
          <p:nvPr/>
        </p:nvSpPr>
        <p:spPr>
          <a:xfrm>
            <a:off x="8430768" y="1737360"/>
            <a:ext cx="402336" cy="566928"/>
          </a:xfrm>
          <a:prstGeom prst="rect">
            <a:avLst/>
          </a:prstGeom>
          <a:solidFill>
            <a:srgbClr val="FFC31F"/>
          </a:solidFill>
          <a:ln/>
        </p:spPr>
      </p:sp>
      <p:sp>
        <p:nvSpPr>
          <p:cNvPr id="9" name="Шкала 1-3"/>
          <p:cNvSpPr/>
          <p:nvPr/>
        </p:nvSpPr>
        <p:spPr>
          <a:xfrm>
            <a:off x="8906256" y="1737360"/>
            <a:ext cx="402336" cy="566928"/>
          </a:xfrm>
          <a:prstGeom prst="rect">
            <a:avLst/>
          </a:prstGeom>
          <a:solidFill>
            <a:srgbClr val="FFC31F"/>
          </a:solidFill>
          <a:ln/>
        </p:spPr>
      </p:sp>
      <p:sp>
        <p:nvSpPr>
          <p:cNvPr id="10" name="Шкала 1-4"/>
          <p:cNvSpPr/>
          <p:nvPr/>
        </p:nvSpPr>
        <p:spPr>
          <a:xfrm>
            <a:off x="9381744" y="1737360"/>
            <a:ext cx="402336" cy="566928"/>
          </a:xfrm>
          <a:prstGeom prst="rect">
            <a:avLst/>
          </a:prstGeom>
          <a:solidFill>
            <a:srgbClr val="FFC31F"/>
          </a:solidFill>
          <a:ln/>
        </p:spPr>
      </p:sp>
      <p:sp>
        <p:nvSpPr>
          <p:cNvPr id="11" name="Шкала 1-5"/>
          <p:cNvSpPr/>
          <p:nvPr/>
        </p:nvSpPr>
        <p:spPr>
          <a:xfrm>
            <a:off x="9857232" y="1737360"/>
            <a:ext cx="402336" cy="566928"/>
          </a:xfrm>
          <a:prstGeom prst="rect">
            <a:avLst/>
          </a:prstGeom>
          <a:solidFill>
            <a:srgbClr val="FFC31F"/>
          </a:solidFill>
          <a:ln/>
        </p:spPr>
      </p:sp>
      <p:sp>
        <p:nvSpPr>
          <p:cNvPr id="12" name="Шкала 1-6"/>
          <p:cNvSpPr/>
          <p:nvPr/>
        </p:nvSpPr>
        <p:spPr>
          <a:xfrm>
            <a:off x="10332720" y="173736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13" name="Шкала 1-7"/>
          <p:cNvSpPr/>
          <p:nvPr/>
        </p:nvSpPr>
        <p:spPr>
          <a:xfrm>
            <a:off x="10808208" y="173736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14" name="Шкала 1-8"/>
          <p:cNvSpPr/>
          <p:nvPr/>
        </p:nvSpPr>
        <p:spPr>
          <a:xfrm>
            <a:off x="11283696" y="173736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15" name="Шкала 2-1"/>
          <p:cNvSpPr/>
          <p:nvPr/>
        </p:nvSpPr>
        <p:spPr>
          <a:xfrm>
            <a:off x="7955280" y="2606040"/>
            <a:ext cx="402336" cy="566928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16" name="Шкала 2-2"/>
          <p:cNvSpPr/>
          <p:nvPr/>
        </p:nvSpPr>
        <p:spPr>
          <a:xfrm>
            <a:off x="8430768" y="2606040"/>
            <a:ext cx="402336" cy="566928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17" name="Шкала 2-3"/>
          <p:cNvSpPr/>
          <p:nvPr/>
        </p:nvSpPr>
        <p:spPr>
          <a:xfrm>
            <a:off x="8906256" y="260604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18" name="Шкала 2-4"/>
          <p:cNvSpPr/>
          <p:nvPr/>
        </p:nvSpPr>
        <p:spPr>
          <a:xfrm>
            <a:off x="9381744" y="260604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19" name="Шкала 2-5"/>
          <p:cNvSpPr/>
          <p:nvPr/>
        </p:nvSpPr>
        <p:spPr>
          <a:xfrm>
            <a:off x="9857232" y="260604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20" name="Шкала 2-6"/>
          <p:cNvSpPr/>
          <p:nvPr/>
        </p:nvSpPr>
        <p:spPr>
          <a:xfrm>
            <a:off x="10332720" y="260604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21" name="Шкала 2-7"/>
          <p:cNvSpPr/>
          <p:nvPr/>
        </p:nvSpPr>
        <p:spPr>
          <a:xfrm>
            <a:off x="10808208" y="260604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22" name="Шкала 2-8"/>
          <p:cNvSpPr/>
          <p:nvPr/>
        </p:nvSpPr>
        <p:spPr>
          <a:xfrm>
            <a:off x="11283696" y="260604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23" name="Шкала 3-1"/>
          <p:cNvSpPr/>
          <p:nvPr/>
        </p:nvSpPr>
        <p:spPr>
          <a:xfrm>
            <a:off x="7955280" y="347472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4" name="Шкала 3-2"/>
          <p:cNvSpPr/>
          <p:nvPr/>
        </p:nvSpPr>
        <p:spPr>
          <a:xfrm>
            <a:off x="8430768" y="347472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5" name="Шкала 3-3"/>
          <p:cNvSpPr/>
          <p:nvPr/>
        </p:nvSpPr>
        <p:spPr>
          <a:xfrm>
            <a:off x="8906256" y="347472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6" name="Шкала 3-4"/>
          <p:cNvSpPr/>
          <p:nvPr/>
        </p:nvSpPr>
        <p:spPr>
          <a:xfrm>
            <a:off x="9381744" y="347472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7" name="Шкала 3-5"/>
          <p:cNvSpPr/>
          <p:nvPr/>
        </p:nvSpPr>
        <p:spPr>
          <a:xfrm>
            <a:off x="9857232" y="347472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8" name="Шкала 3-6"/>
          <p:cNvSpPr/>
          <p:nvPr/>
        </p:nvSpPr>
        <p:spPr>
          <a:xfrm>
            <a:off x="10332720" y="347472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9" name="Шкала 3-7"/>
          <p:cNvSpPr/>
          <p:nvPr/>
        </p:nvSpPr>
        <p:spPr>
          <a:xfrm>
            <a:off x="10808208" y="347472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30" name="Шкала 3-8"/>
          <p:cNvSpPr/>
          <p:nvPr/>
        </p:nvSpPr>
        <p:spPr>
          <a:xfrm>
            <a:off x="11283696" y="347472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31" name="Шкала 4-1"/>
          <p:cNvSpPr/>
          <p:nvPr/>
        </p:nvSpPr>
        <p:spPr>
          <a:xfrm>
            <a:off x="7955280" y="4343400"/>
            <a:ext cx="402336" cy="566928"/>
          </a:xfrm>
          <a:prstGeom prst="rect">
            <a:avLst/>
          </a:prstGeom>
          <a:solidFill>
            <a:srgbClr val="FFC31F"/>
          </a:solidFill>
          <a:ln/>
        </p:spPr>
      </p:sp>
      <p:sp>
        <p:nvSpPr>
          <p:cNvPr id="32" name="Шкала 4-2"/>
          <p:cNvSpPr/>
          <p:nvPr/>
        </p:nvSpPr>
        <p:spPr>
          <a:xfrm>
            <a:off x="8430768" y="4343400"/>
            <a:ext cx="402336" cy="566928"/>
          </a:xfrm>
          <a:prstGeom prst="rect">
            <a:avLst/>
          </a:prstGeom>
          <a:solidFill>
            <a:srgbClr val="FFC31F"/>
          </a:solidFill>
          <a:ln/>
        </p:spPr>
      </p:sp>
      <p:sp>
        <p:nvSpPr>
          <p:cNvPr id="33" name="Шкала 4-3"/>
          <p:cNvSpPr/>
          <p:nvPr/>
        </p:nvSpPr>
        <p:spPr>
          <a:xfrm>
            <a:off x="8906256" y="4343400"/>
            <a:ext cx="402336" cy="566928"/>
          </a:xfrm>
          <a:prstGeom prst="rect">
            <a:avLst/>
          </a:prstGeom>
          <a:solidFill>
            <a:srgbClr val="FFC31F"/>
          </a:solidFill>
          <a:ln/>
        </p:spPr>
      </p:sp>
      <p:sp>
        <p:nvSpPr>
          <p:cNvPr id="34" name="Шкала 4-4"/>
          <p:cNvSpPr/>
          <p:nvPr/>
        </p:nvSpPr>
        <p:spPr>
          <a:xfrm>
            <a:off x="9381744" y="434340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35" name="Шкала 4-5"/>
          <p:cNvSpPr/>
          <p:nvPr/>
        </p:nvSpPr>
        <p:spPr>
          <a:xfrm>
            <a:off x="9857232" y="434340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36" name="Шкала 4-6"/>
          <p:cNvSpPr/>
          <p:nvPr/>
        </p:nvSpPr>
        <p:spPr>
          <a:xfrm>
            <a:off x="10332720" y="434340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37" name="Шкала 4-7"/>
          <p:cNvSpPr/>
          <p:nvPr/>
        </p:nvSpPr>
        <p:spPr>
          <a:xfrm>
            <a:off x="10808208" y="434340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38" name="Шкала 4-8"/>
          <p:cNvSpPr/>
          <p:nvPr/>
        </p:nvSpPr>
        <p:spPr>
          <a:xfrm>
            <a:off x="11283696" y="434340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39" name="Шкала 5-1"/>
          <p:cNvSpPr/>
          <p:nvPr/>
        </p:nvSpPr>
        <p:spPr>
          <a:xfrm>
            <a:off x="7955280" y="521208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40" name="Шкала 5-2"/>
          <p:cNvSpPr/>
          <p:nvPr/>
        </p:nvSpPr>
        <p:spPr>
          <a:xfrm>
            <a:off x="8430768" y="521208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41" name="Шкала 5-3"/>
          <p:cNvSpPr/>
          <p:nvPr/>
        </p:nvSpPr>
        <p:spPr>
          <a:xfrm>
            <a:off x="8906256" y="521208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42" name="Шкала 5-4"/>
          <p:cNvSpPr/>
          <p:nvPr/>
        </p:nvSpPr>
        <p:spPr>
          <a:xfrm>
            <a:off x="9381744" y="521208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43" name="Шкала 5-5"/>
          <p:cNvSpPr/>
          <p:nvPr/>
        </p:nvSpPr>
        <p:spPr>
          <a:xfrm>
            <a:off x="9857232" y="521208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44" name="Шкала 5-6"/>
          <p:cNvSpPr/>
          <p:nvPr/>
        </p:nvSpPr>
        <p:spPr>
          <a:xfrm>
            <a:off x="10332720" y="5212080"/>
            <a:ext cx="402336" cy="5669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45" name="Шкала 5-7"/>
          <p:cNvSpPr/>
          <p:nvPr/>
        </p:nvSpPr>
        <p:spPr>
          <a:xfrm>
            <a:off x="10808208" y="521208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  <p:sp>
        <p:nvSpPr>
          <p:cNvPr id="46" name="Шкала 5-8"/>
          <p:cNvSpPr/>
          <p:nvPr/>
        </p:nvSpPr>
        <p:spPr>
          <a:xfrm>
            <a:off x="11283696" y="5212080"/>
            <a:ext cx="402336" cy="566928"/>
          </a:xfrm>
          <a:prstGeom prst="rect">
            <a:avLst/>
          </a:prstGeom>
          <a:solidFill>
            <a:srgbClr val="2B344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Проблема и актуальность</a:t>
            </a:r>
            <a:endParaRPr lang="en-US" sz="3400" dirty="0"/>
          </a:p>
        </p:txBody>
      </p:sp>
      <p:sp>
        <p:nvSpPr>
          <p:cNvPr id="3" name="Круг иконки 1"/>
          <p:cNvSpPr/>
          <p:nvPr/>
        </p:nvSpPr>
        <p:spPr>
          <a:xfrm>
            <a:off x="548640" y="1463040"/>
            <a:ext cx="868680" cy="868680"/>
          </a:xfrm>
          <a:prstGeom prst="ellipse">
            <a:avLst/>
          </a:prstGeom>
          <a:solidFill>
            <a:srgbClr val="151B26"/>
          </a:solidFill>
          <a:ln/>
        </p:spPr>
      </p:sp>
      <p:pic>
        <p:nvPicPr>
          <p:cNvPr id="4" name="Image 0" descr="Остатки уходят в минус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463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Остатки уходят в минус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920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Тетрадь и Excel не запрещают списать больше, чем есть на складе.</a:t>
            </a:r>
            <a:endParaRPr lang="en-US" sz="1600" dirty="0"/>
          </a:p>
        </p:txBody>
      </p:sp>
      <p:sp>
        <p:nvSpPr>
          <p:cNvPr id="7" name="Круг иконки 2"/>
          <p:cNvSpPr/>
          <p:nvPr/>
        </p:nvSpPr>
        <p:spPr>
          <a:xfrm>
            <a:off x="548640" y="2926080"/>
            <a:ext cx="868680" cy="868680"/>
          </a:xfrm>
          <a:prstGeom prst="ellipse">
            <a:avLst/>
          </a:prstGeom>
          <a:solidFill>
            <a:srgbClr val="151B26"/>
          </a:solidFill>
          <a:ln/>
        </p:spPr>
      </p:sp>
      <p:pic>
        <p:nvPicPr>
          <p:cNvPr id="8" name="Image 1" descr="Нет истори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истории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3383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Непонятно, кто, когда и на каком основании изменил остаток.</a:t>
            </a:r>
            <a:endParaRPr lang="en-US" sz="1600" dirty="0"/>
          </a:p>
        </p:txBody>
      </p:sp>
      <p:sp>
        <p:nvSpPr>
          <p:cNvPr id="11" name="Круг иконки 3"/>
          <p:cNvSpPr/>
          <p:nvPr/>
        </p:nvSpPr>
        <p:spPr>
          <a:xfrm>
            <a:off x="548640" y="4389120"/>
            <a:ext cx="868680" cy="868680"/>
          </a:xfrm>
          <a:prstGeom prst="ellipse">
            <a:avLst/>
          </a:prstGeom>
          <a:solidFill>
            <a:srgbClr val="151B26"/>
          </a:solidFill>
          <a:ln/>
        </p:spPr>
      </p:sp>
      <p:pic>
        <p:nvPicPr>
          <p:cNvPr id="12" name="Image 2" descr="О дефиците узнают поздно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177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4389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дефиците узнают поздно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1691640" y="4846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Нехватку замечают при отгрузке, а не заранее.</a:t>
            </a:r>
            <a:endParaRPr lang="en-US" sz="1600" dirty="0"/>
          </a:p>
        </p:txBody>
      </p:sp>
      <p:sp>
        <p:nvSpPr>
          <p:cNvPr id="15" name="Панель аудитории"/>
          <p:cNvSpPr/>
          <p:nvPr/>
        </p:nvSpPr>
        <p:spPr>
          <a:xfrm>
            <a:off x="7772400" y="1463040"/>
            <a:ext cx="386791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04672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 нужно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046720" y="21031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Кладовщик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Специалист по закупкам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Руководитель небольшого склада</a:t>
            </a:r>
            <a:endParaRPr lang="en-US" sz="1600" dirty="0"/>
          </a:p>
        </p:txBody>
      </p:sp>
      <p:sp>
        <p:nvSpPr>
          <p:cNvPr id="18" name="Панель цели"/>
          <p:cNvSpPr/>
          <p:nvPr/>
        </p:nvSpPr>
        <p:spPr>
          <a:xfrm>
            <a:off x="7772400" y="3840480"/>
            <a:ext cx="3867912" cy="2148840"/>
          </a:xfrm>
          <a:prstGeom prst="roundRect">
            <a:avLst>
              <a:gd name="adj" fmla="val 5106"/>
            </a:avLst>
          </a:prstGeom>
          <a:solidFill>
            <a:srgbClr val="151B26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4672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проекта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046720" y="44805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Приложение, где остатки меняются только проведёнными документами, а списать больше остатка невозможно.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Анализ аналогов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937760"/>
                <a:gridCol w="3867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Аналог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Что умеет (по данным источника)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Ограничение для нашей задачи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B26"/>
                          </a:solidFill>
                        </a:rPr>
                        <a:t>МойСклад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6"/>
                          </a:solidFill>
                        </a:rPr>
                        <a:t>Приёмка, отгрузка, списание, оприходование; справочник контрагентов; печать документов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6"/>
                          </a:solidFill>
                        </a:rPr>
                        <a:t>Облачный сервис с тарифами, избыточен для учебного проекта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B26"/>
                          </a:solidFill>
                        </a:rPr>
                        <a:t>Odoo Inventory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6"/>
                          </a:solidFill>
                        </a:rPr>
                        <a:t>Склад в составе ERP; правила пополнения поддерживают минимальный запас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6"/>
                          </a:solidFill>
                        </a:rPr>
                        <a:t>Полноценная ERP: нужны установка и настройка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B26"/>
                          </a:solidFill>
                        </a:rPr>
                        <a:t>MyBuh.kz (склад)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6"/>
                          </a:solidFill>
                        </a:rPr>
                        <a:t>Приходные и расходные накладные; расходная накладная списывает товар автоматически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6"/>
                          </a:solidFill>
                        </a:rPr>
                        <a:t>Закрытый сервис, логика работы не видна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B26"/>
                          </a:solidFill>
                        </a:rPr>
                        <a:t>Excel / Таблицы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6"/>
                          </a:solidFill>
                        </a:rPr>
                        <a:t>Просто и бесплатно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6"/>
                          </a:solidFill>
                        </a:rPr>
                        <a:t>Нет проверок, документов и журнала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1B26"/>
                          </a:solidFill>
                        </a:rPr>
                        <a:t>Стеллаж (наш проект)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6"/>
                          </a:solidFill>
                        </a:rPr>
                        <a:t>Документы, контрагенты, контроль остатка и журнал в одном файле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1B26"/>
                          </a:solidFill>
                        </a:rPr>
                        <a:t>Один склад, без логина, данные в браузере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Источники: moysklad.ru, odoo.com/documentation, mybuh.kz/faq/skladskoy-uchet.html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Требования</a:t>
            </a:r>
            <a:endParaRPr lang="en-US" sz="3400" dirty="0"/>
          </a:p>
        </p:txBody>
      </p:sp>
      <p:sp>
        <p:nvSpPr>
          <p:cNvPr id="3" name="Карточка FR-1"/>
          <p:cNvSpPr/>
          <p:nvPr/>
        </p:nvSpPr>
        <p:spPr>
          <a:xfrm>
            <a:off x="548640" y="1417320"/>
            <a:ext cx="36118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Метка FR-1"/>
          <p:cNvSpPr/>
          <p:nvPr/>
        </p:nvSpPr>
        <p:spPr>
          <a:xfrm>
            <a:off x="731520" y="160020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FC3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B26"/>
                </a:solidFill>
              </a:rPr>
              <a:t>FR-1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842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134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Поиск, фильтры, сортировка</a:t>
            </a:r>
            <a:endParaRPr lang="en-US" sz="1400" dirty="0"/>
          </a:p>
        </p:txBody>
      </p:sp>
      <p:sp>
        <p:nvSpPr>
          <p:cNvPr id="8" name="Карточка FR-2"/>
          <p:cNvSpPr/>
          <p:nvPr/>
        </p:nvSpPr>
        <p:spPr>
          <a:xfrm>
            <a:off x="4389120" y="1417320"/>
            <a:ext cx="36118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Метка FR-2"/>
          <p:cNvSpPr/>
          <p:nvPr/>
        </p:nvSpPr>
        <p:spPr>
          <a:xfrm>
            <a:off x="4572000" y="160020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FC3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6002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B26"/>
                </a:solidFill>
              </a:rPr>
              <a:t>FR-2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19842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Контрагенты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134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Поставщики и покупатели</a:t>
            </a:r>
            <a:endParaRPr lang="en-US" sz="1400" dirty="0"/>
          </a:p>
        </p:txBody>
      </p:sp>
      <p:sp>
        <p:nvSpPr>
          <p:cNvPr id="13" name="Карточка FR-3"/>
          <p:cNvSpPr/>
          <p:nvPr/>
        </p:nvSpPr>
        <p:spPr>
          <a:xfrm>
            <a:off x="548640" y="2880360"/>
            <a:ext cx="36118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4" name="Метка FR-3"/>
          <p:cNvSpPr/>
          <p:nvPr/>
        </p:nvSpPr>
        <p:spPr>
          <a:xfrm>
            <a:off x="731520" y="306324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FC3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0632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B26"/>
                </a:solidFill>
              </a:rPr>
              <a:t>FR-3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4472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Приходная накладная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764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Черновик и проведение</a:t>
            </a:r>
            <a:endParaRPr lang="en-US" sz="1400" dirty="0"/>
          </a:p>
        </p:txBody>
      </p:sp>
      <p:sp>
        <p:nvSpPr>
          <p:cNvPr id="18" name="Карточка FR-4"/>
          <p:cNvSpPr/>
          <p:nvPr/>
        </p:nvSpPr>
        <p:spPr>
          <a:xfrm>
            <a:off x="4389120" y="2880360"/>
            <a:ext cx="36118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9" name="Метка FR-4"/>
          <p:cNvSpPr/>
          <p:nvPr/>
        </p:nvSpPr>
        <p:spPr>
          <a:xfrm>
            <a:off x="4572000" y="306324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FC31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0" y="30632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B26"/>
                </a:solidFill>
              </a:rPr>
              <a:t>FR-4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4472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списания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7764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Причина, покупатель</a:t>
            </a:r>
            <a:endParaRPr lang="en-US" sz="1400" dirty="0"/>
          </a:p>
        </p:txBody>
      </p:sp>
      <p:sp>
        <p:nvSpPr>
          <p:cNvPr id="23" name="Карточка FR-5"/>
          <p:cNvSpPr/>
          <p:nvPr/>
        </p:nvSpPr>
        <p:spPr>
          <a:xfrm>
            <a:off x="548640" y="4343400"/>
            <a:ext cx="36118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4" name="Метка FR-5"/>
          <p:cNvSpPr/>
          <p:nvPr/>
        </p:nvSpPr>
        <p:spPr>
          <a:xfrm>
            <a:off x="731520" y="452628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FC3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5262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B26"/>
                </a:solidFill>
              </a:rPr>
              <a:t>FR-5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910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остатка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239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Больше остатка списать нельзя</a:t>
            </a:r>
            <a:endParaRPr lang="en-US" sz="1400" dirty="0"/>
          </a:p>
        </p:txBody>
      </p:sp>
      <p:sp>
        <p:nvSpPr>
          <p:cNvPr id="28" name="Карточка FR-6"/>
          <p:cNvSpPr/>
          <p:nvPr/>
        </p:nvSpPr>
        <p:spPr>
          <a:xfrm>
            <a:off x="4389120" y="4343400"/>
            <a:ext cx="36118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9" name="Метка FR-6"/>
          <p:cNvSpPr/>
          <p:nvPr/>
        </p:nvSpPr>
        <p:spPr>
          <a:xfrm>
            <a:off x="4572000" y="452628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FC31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0" y="45262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B26"/>
                </a:solidFill>
              </a:rPr>
              <a:t>FR-6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910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Правка и отмена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5239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Проведённые документы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43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Ещё: FR-7 журнал операций, FR-8 статусы позиций и сводка по складу</a:t>
            </a:r>
            <a:endParaRPr lang="en-US" sz="1300" dirty="0"/>
          </a:p>
        </p:txBody>
      </p:sp>
      <p:sp>
        <p:nvSpPr>
          <p:cNvPr id="34" name="Панель NFR"/>
          <p:cNvSpPr/>
          <p:nvPr/>
        </p:nvSpPr>
        <p:spPr>
          <a:xfrm>
            <a:off x="8275320" y="1417320"/>
            <a:ext cx="3364992" cy="4206240"/>
          </a:xfrm>
          <a:prstGeom prst="roundRect">
            <a:avLst>
              <a:gd name="adj" fmla="val 3261"/>
            </a:avLst>
          </a:prstGeom>
          <a:solidFill>
            <a:srgbClr val="151B2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9640" y="1600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Нефункциональные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549640" y="210312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Работает в браузере, без установки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Данные только локально, без персональных данных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Понятные ошибки на русском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Адаптивный интерфейс, тёмная тема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Логика отделена и тестируется без браузера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Инкрементная модель и архитектура</a:t>
            </a:r>
            <a:endParaRPr lang="en-US" sz="3400" dirty="0"/>
          </a:p>
        </p:txBody>
      </p:sp>
      <p:sp>
        <p:nvSpPr>
          <p:cNvPr id="3" name="Инкремент 1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1F"/>
                </a:solidFill>
              </a:rPr>
              <a:t>I1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17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Остатки, поиск, быстрые операции</a:t>
            </a:r>
            <a:endParaRPr lang="en-US" sz="1700" dirty="0"/>
          </a:p>
        </p:txBody>
      </p:sp>
      <p:sp>
        <p:nvSpPr>
          <p:cNvPr id="6" name="Инкремент 2"/>
          <p:cNvSpPr/>
          <p:nvPr/>
        </p:nvSpPr>
        <p:spPr>
          <a:xfrm>
            <a:off x="548640" y="2221992"/>
            <a:ext cx="640080" cy="640080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1F"/>
                </a:solidFill>
              </a:rPr>
              <a:t>I2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219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Документы: приход и списание</a:t>
            </a:r>
            <a:endParaRPr lang="en-US" sz="1700" dirty="0"/>
          </a:p>
        </p:txBody>
      </p:sp>
      <p:sp>
        <p:nvSpPr>
          <p:cNvPr id="9" name="Инкремент 3"/>
          <p:cNvSpPr/>
          <p:nvPr/>
        </p:nvSpPr>
        <p:spPr>
          <a:xfrm>
            <a:off x="548640" y="3026664"/>
            <a:ext cx="640080" cy="640080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266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1F"/>
                </a:solidFill>
              </a:rPr>
              <a:t>I3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2666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Контрагенты</a:t>
            </a:r>
            <a:endParaRPr lang="en-US" sz="1700" dirty="0"/>
          </a:p>
        </p:txBody>
      </p:sp>
      <p:sp>
        <p:nvSpPr>
          <p:cNvPr id="12" name="Инкремент 4"/>
          <p:cNvSpPr/>
          <p:nvPr/>
        </p:nvSpPr>
        <p:spPr>
          <a:xfrm>
            <a:off x="548640" y="3831336"/>
            <a:ext cx="640080" cy="640080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31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1F"/>
                </a:solidFill>
              </a:rPr>
              <a:t>I4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313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Правка проведённых документов</a:t>
            </a:r>
            <a:endParaRPr lang="en-US" sz="1700" dirty="0"/>
          </a:p>
        </p:txBody>
      </p:sp>
      <p:sp>
        <p:nvSpPr>
          <p:cNvPr id="15" name="Инкремент 5"/>
          <p:cNvSpPr/>
          <p:nvPr/>
        </p:nvSpPr>
        <p:spPr>
          <a:xfrm>
            <a:off x="548640" y="4636008"/>
            <a:ext cx="640080" cy="640080"/>
          </a:xfrm>
          <a:prstGeom prst="ellipse">
            <a:avLst/>
          </a:prstGeom>
          <a:solidFill>
            <a:srgbClr val="FFC3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636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B26"/>
                </a:solidFill>
              </a:rPr>
              <a:t>I5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6360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Контроль остатка и тесты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5321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Требования уточнялись после каждой версии, поэтому каскадная модель не подошла.</a:t>
            </a:r>
            <a:endParaRPr lang="en-US" sz="1400" dirty="0"/>
          </a:p>
        </p:txBody>
      </p:sp>
      <p:sp>
        <p:nvSpPr>
          <p:cNvPr id="19" name="Блок 1"/>
          <p:cNvSpPr/>
          <p:nvPr/>
        </p:nvSpPr>
        <p:spPr>
          <a:xfrm>
            <a:off x="6492240" y="1417320"/>
            <a:ext cx="31089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1417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Интерфейс: index.html, styles.css</a:t>
            </a:r>
            <a:endParaRPr lang="en-US" sz="1400" dirty="0"/>
          </a:p>
        </p:txBody>
      </p:sp>
      <p:sp>
        <p:nvSpPr>
          <p:cNvPr id="21" name="Стрелка 1"/>
          <p:cNvSpPr/>
          <p:nvPr/>
        </p:nvSpPr>
        <p:spPr>
          <a:xfrm>
            <a:off x="8046720" y="2221992"/>
            <a:ext cx="0" cy="36576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2" name="Блок 2"/>
          <p:cNvSpPr/>
          <p:nvPr/>
        </p:nvSpPr>
        <p:spPr>
          <a:xfrm>
            <a:off x="6492240" y="2606040"/>
            <a:ext cx="31089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26060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app.js: отрисовка, события, хранение</a:t>
            </a:r>
            <a:endParaRPr lang="en-US" sz="1400" dirty="0"/>
          </a:p>
        </p:txBody>
      </p:sp>
      <p:sp>
        <p:nvSpPr>
          <p:cNvPr id="24" name="Стрелка 2"/>
          <p:cNvSpPr/>
          <p:nvPr/>
        </p:nvSpPr>
        <p:spPr>
          <a:xfrm>
            <a:off x="8046720" y="3410712"/>
            <a:ext cx="0" cy="36576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5" name="Блок 3"/>
          <p:cNvSpPr/>
          <p:nvPr/>
        </p:nvSpPr>
        <p:spPr>
          <a:xfrm>
            <a:off x="6492240" y="379476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FFC31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29400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B26"/>
                </a:solidFill>
              </a:rPr>
              <a:t>logic.js: данные и правила (без DOM)</a:t>
            </a:r>
            <a:endParaRPr lang="en-US" sz="1400" dirty="0"/>
          </a:p>
        </p:txBody>
      </p:sp>
      <p:sp>
        <p:nvSpPr>
          <p:cNvPr id="27" name="Стрелка 3"/>
          <p:cNvSpPr/>
          <p:nvPr/>
        </p:nvSpPr>
        <p:spPr>
          <a:xfrm>
            <a:off x="8046720" y="4599432"/>
            <a:ext cx="0" cy="36576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8" name="Блок 4"/>
          <p:cNvSpPr/>
          <p:nvPr/>
        </p:nvSpPr>
        <p:spPr>
          <a:xfrm>
            <a:off x="6492240" y="498348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151B2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29400" y="4983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localStorage</a:t>
            </a:r>
            <a:endParaRPr lang="en-US" sz="1400" dirty="0"/>
          </a:p>
        </p:txBody>
      </p:sp>
      <p:sp>
        <p:nvSpPr>
          <p:cNvPr id="30" name="Блок тестов"/>
          <p:cNvSpPr/>
          <p:nvPr/>
        </p:nvSpPr>
        <p:spPr>
          <a:xfrm>
            <a:off x="10058400" y="3840480"/>
            <a:ext cx="1581912" cy="777240"/>
          </a:xfrm>
          <a:prstGeom prst="roundRect">
            <a:avLst>
              <a:gd name="adj" fmla="val 14118"/>
            </a:avLst>
          </a:prstGeom>
          <a:solidFill>
            <a:srgbClr val="2B344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04120" y="3840480"/>
            <a:ext cx="1490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Тесты в Node.js</a:t>
            </a:r>
            <a:endParaRPr lang="en-US" sz="1400" dirty="0"/>
          </a:p>
        </p:txBody>
      </p:sp>
      <p:sp>
        <p:nvSpPr>
          <p:cNvPr id="32" name="Стрелка тестов"/>
          <p:cNvSpPr/>
          <p:nvPr/>
        </p:nvSpPr>
        <p:spPr>
          <a:xfrm flipH="1">
            <a:off x="10058400" y="4229100"/>
            <a:ext cx="-457200" cy="0"/>
          </a:xfrm>
          <a:prstGeom prst="line">
            <a:avLst/>
          </a:prstGeom>
          <a:noFill/>
          <a:ln w="254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Алгоритмы и структуры данных</a:t>
            </a:r>
            <a:endParaRPr lang="en-US" sz="3400" dirty="0"/>
          </a:p>
        </p:txBody>
      </p:sp>
      <p:sp>
        <p:nvSpPr>
          <p:cNvPr id="3" name="Структура Позиция"/>
          <p:cNvSpPr/>
          <p:nvPr/>
        </p:nvSpPr>
        <p:spPr>
          <a:xfrm>
            <a:off x="548640" y="1417320"/>
            <a:ext cx="2697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81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Позиция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sku, name, category, unit, location, qty, min</a:t>
            </a:r>
            <a:endParaRPr lang="en-US" sz="1400" dirty="0"/>
          </a:p>
        </p:txBody>
      </p:sp>
      <p:sp>
        <p:nvSpPr>
          <p:cNvPr id="6" name="Структура Документ"/>
          <p:cNvSpPr/>
          <p:nvPr/>
        </p:nvSpPr>
        <p:spPr>
          <a:xfrm>
            <a:off x="3383280" y="1417320"/>
            <a:ext cx="2697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581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number, type, date, partnerId, status, lines[]</a:t>
            </a:r>
            <a:endParaRPr lang="en-US" sz="1400" dirty="0"/>
          </a:p>
        </p:txBody>
      </p:sp>
      <p:sp>
        <p:nvSpPr>
          <p:cNvPr id="9" name="Структура Строка"/>
          <p:cNvSpPr/>
          <p:nvPr/>
        </p:nvSpPr>
        <p:spPr>
          <a:xfrm>
            <a:off x="548640" y="3017520"/>
            <a:ext cx="2697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1821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11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itemId, qty</a:t>
            </a:r>
            <a:endParaRPr lang="en-US" sz="1400" dirty="0"/>
          </a:p>
        </p:txBody>
      </p:sp>
      <p:sp>
        <p:nvSpPr>
          <p:cNvPr id="12" name="Структура Запись журнала"/>
          <p:cNvSpPr/>
          <p:nvPr/>
        </p:nvSpPr>
        <p:spPr>
          <a:xfrm>
            <a:off x="3383280" y="3017520"/>
            <a:ext cx="26974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31821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журнала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611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docNumber, type, qty, balance</a:t>
            </a:r>
            <a:endParaRPr lang="en-US" sz="1400" dirty="0"/>
          </a:p>
        </p:txBody>
      </p:sp>
      <p:sp>
        <p:nvSpPr>
          <p:cNvPr id="15" name="Перечисление Status"/>
          <p:cNvSpPr/>
          <p:nvPr/>
        </p:nvSpPr>
        <p:spPr>
          <a:xfrm>
            <a:off x="548640" y="470916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151B2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09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1F"/>
                </a:solidFill>
              </a:rPr>
              <a:t>Status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ok · low · out</a:t>
            </a:r>
            <a:endParaRPr lang="en-US" sz="1200" dirty="0"/>
          </a:p>
        </p:txBody>
      </p:sp>
      <p:sp>
        <p:nvSpPr>
          <p:cNvPr id="17" name="Перечисление DocType"/>
          <p:cNvSpPr/>
          <p:nvPr/>
        </p:nvSpPr>
        <p:spPr>
          <a:xfrm>
            <a:off x="2468880" y="470916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151B2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560320" y="4709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1F"/>
                </a:solidFill>
              </a:rPr>
              <a:t>DocType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 · out</a:t>
            </a:r>
            <a:endParaRPr lang="en-US" sz="1200" dirty="0"/>
          </a:p>
        </p:txBody>
      </p:sp>
      <p:sp>
        <p:nvSpPr>
          <p:cNvPr id="19" name="Перечисление DocStatus"/>
          <p:cNvSpPr/>
          <p:nvPr/>
        </p:nvSpPr>
        <p:spPr>
          <a:xfrm>
            <a:off x="4389120" y="470916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151B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80560" y="47091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31F"/>
                </a:solidFill>
              </a:rPr>
              <a:t>DocStatus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draft · posted · cancelled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Проведение документа</a:t>
            </a:r>
            <a:endParaRPr lang="en-US" sz="2000" dirty="0"/>
          </a:p>
        </p:txBody>
      </p:sp>
      <p:sp>
        <p:nvSpPr>
          <p:cNvPr id="22" name="Шаг 1"/>
          <p:cNvSpPr/>
          <p:nvPr/>
        </p:nvSpPr>
        <p:spPr>
          <a:xfrm>
            <a:off x="6492240" y="1920240"/>
            <a:ext cx="548640" cy="548640"/>
          </a:xfrm>
          <a:prstGeom prst="ellipse">
            <a:avLst/>
          </a:prstGeom>
          <a:solidFill>
            <a:srgbClr val="FFC3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B26"/>
                </a:solidFill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19202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Цикл по строкам: проверить все</a:t>
            </a:r>
            <a:endParaRPr lang="en-US" sz="1600" dirty="0"/>
          </a:p>
        </p:txBody>
      </p:sp>
      <p:sp>
        <p:nvSpPr>
          <p:cNvPr id="25" name="Шаг 2"/>
          <p:cNvSpPr/>
          <p:nvPr/>
        </p:nvSpPr>
        <p:spPr>
          <a:xfrm>
            <a:off x="6492240" y="2688336"/>
            <a:ext cx="548640" cy="548640"/>
          </a:xfrm>
          <a:prstGeom prst="ellipse">
            <a:avLst/>
          </a:prstGeom>
          <a:solidFill>
            <a:srgbClr val="FFC31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2688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B26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268833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Есть ошибки? Отказ, остатки не тронуты</a:t>
            </a:r>
            <a:endParaRPr lang="en-US" sz="1600" dirty="0"/>
          </a:p>
        </p:txBody>
      </p:sp>
      <p:sp>
        <p:nvSpPr>
          <p:cNvPr id="28" name="Шаг 3"/>
          <p:cNvSpPr/>
          <p:nvPr/>
        </p:nvSpPr>
        <p:spPr>
          <a:xfrm>
            <a:off x="6492240" y="3456432"/>
            <a:ext cx="548640" cy="548640"/>
          </a:xfrm>
          <a:prstGeom prst="ellipse">
            <a:avLst/>
          </a:prstGeom>
          <a:solidFill>
            <a:srgbClr val="FFC31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92240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B26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34564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Цикл по строкам: изменить остаток</a:t>
            </a:r>
            <a:endParaRPr lang="en-US" sz="1600" dirty="0"/>
          </a:p>
        </p:txBody>
      </p:sp>
      <p:sp>
        <p:nvSpPr>
          <p:cNvPr id="31" name="Шаг 4"/>
          <p:cNvSpPr/>
          <p:nvPr/>
        </p:nvSpPr>
        <p:spPr>
          <a:xfrm>
            <a:off x="6492240" y="4224528"/>
            <a:ext cx="548640" cy="548640"/>
          </a:xfrm>
          <a:prstGeom prst="ellipse">
            <a:avLst/>
          </a:prstGeom>
          <a:solidFill>
            <a:srgbClr val="FFC31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0" y="4224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B26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42245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Запись в журнал по каждой строке</a:t>
            </a:r>
            <a:endParaRPr lang="en-US" sz="1600" dirty="0"/>
          </a:p>
        </p:txBody>
      </p:sp>
      <p:sp>
        <p:nvSpPr>
          <p:cNvPr id="34" name="Шаг 5"/>
          <p:cNvSpPr/>
          <p:nvPr/>
        </p:nvSpPr>
        <p:spPr>
          <a:xfrm>
            <a:off x="6492240" y="4992624"/>
            <a:ext cx="548640" cy="548640"/>
          </a:xfrm>
          <a:prstGeom prst="ellipse">
            <a:avLst/>
          </a:prstGeom>
          <a:solidFill>
            <a:srgbClr val="FFC31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92240" y="4992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B26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269480" y="499262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Статус «Проведён» и предупреждения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Лекции 4–8: циклы, функции, массивы, строки (поиск без учёта регистра и «ё»), структуры и перечисления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Интерфейс и демонстрация</a:t>
            </a:r>
            <a:endParaRPr lang="en-US" sz="3400" dirty="0"/>
          </a:p>
        </p:txBody>
      </p:sp>
      <p:sp>
        <p:nvSpPr>
          <p:cNvPr id="3" name="Макет экрана"/>
          <p:cNvSpPr/>
          <p:nvPr/>
        </p:nvSpPr>
        <p:spPr>
          <a:xfrm>
            <a:off x="548640" y="1417320"/>
            <a:ext cx="6583680" cy="4343400"/>
          </a:xfrm>
          <a:prstGeom prst="roundRect">
            <a:avLst>
              <a:gd name="adj" fmla="val 2526"/>
            </a:avLst>
          </a:prstGeom>
          <a:solidFill>
            <a:srgbClr val="F1F3F6"/>
          </a:solidFill>
          <a:ln/>
        </p:spPr>
      </p:sp>
      <p:sp>
        <p:nvSpPr>
          <p:cNvPr id="4" name="Макет: меню"/>
          <p:cNvSpPr/>
          <p:nvPr/>
        </p:nvSpPr>
        <p:spPr>
          <a:xfrm>
            <a:off x="548640" y="1417320"/>
            <a:ext cx="1371600" cy="4343400"/>
          </a:xfrm>
          <a:prstGeom prst="roundRect">
            <a:avLst>
              <a:gd name="adj" fmla="val 8000"/>
            </a:avLst>
          </a:prstGeom>
          <a:solidFill>
            <a:srgbClr val="151B26"/>
          </a:solidFill>
          <a:ln/>
        </p:spPr>
      </p:sp>
      <p:sp>
        <p:nvSpPr>
          <p:cNvPr id="5" name="Макет: активный пункт"/>
          <p:cNvSpPr/>
          <p:nvPr/>
        </p:nvSpPr>
        <p:spPr>
          <a:xfrm>
            <a:off x="640080" y="1828800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C3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B26"/>
                </a:solidFill>
              </a:rPr>
              <a:t>Остатки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E"/>
                </a:solidFill>
              </a:rPr>
              <a:t>Документы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E"/>
                </a:solidFill>
              </a:rPr>
              <a:t>Контрагенты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632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2DE"/>
                </a:solidFill>
              </a:rPr>
              <a:t>Журнал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Остатки</a:t>
            </a:r>
            <a:endParaRPr lang="en-US" sz="1600" dirty="0"/>
          </a:p>
        </p:txBody>
      </p:sp>
      <p:sp>
        <p:nvSpPr>
          <p:cNvPr id="11" name="Макет: показатель 1"/>
          <p:cNvSpPr/>
          <p:nvPr/>
        </p:nvSpPr>
        <p:spPr>
          <a:xfrm>
            <a:off x="2194560" y="210312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94560" y="2103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B26"/>
                </a:solidFill>
              </a:rPr>
              <a:t>10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позиций</a:t>
            </a:r>
            <a:endParaRPr lang="en-US" sz="1400" dirty="0"/>
          </a:p>
        </p:txBody>
      </p:sp>
      <p:sp>
        <p:nvSpPr>
          <p:cNvPr id="13" name="Макет: показатель 2"/>
          <p:cNvSpPr/>
          <p:nvPr/>
        </p:nvSpPr>
        <p:spPr>
          <a:xfrm>
            <a:off x="3383280" y="210312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83280" y="2103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B26"/>
                </a:solidFill>
              </a:rPr>
              <a:t>1 016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единиц</a:t>
            </a:r>
            <a:endParaRPr lang="en-US" sz="1400" dirty="0"/>
          </a:p>
        </p:txBody>
      </p:sp>
      <p:sp>
        <p:nvSpPr>
          <p:cNvPr id="15" name="Макет: показатель 3"/>
          <p:cNvSpPr/>
          <p:nvPr/>
        </p:nvSpPr>
        <p:spPr>
          <a:xfrm>
            <a:off x="4572000" y="210312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FEFC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2103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B26"/>
                </a:solidFill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пополнить</a:t>
            </a:r>
            <a:endParaRPr lang="en-US" sz="1400" dirty="0"/>
          </a:p>
        </p:txBody>
      </p:sp>
      <p:sp>
        <p:nvSpPr>
          <p:cNvPr id="17" name="Макет: показатель 4"/>
          <p:cNvSpPr/>
          <p:nvPr/>
        </p:nvSpPr>
        <p:spPr>
          <a:xfrm>
            <a:off x="5760720" y="210312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60720" y="2103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B26"/>
                </a:solidFill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нет</a:t>
            </a:r>
            <a:endParaRPr lang="en-US" sz="1400" dirty="0"/>
          </a:p>
        </p:txBody>
      </p:sp>
      <p:sp>
        <p:nvSpPr>
          <p:cNvPr id="19" name="Макет: строка 1"/>
          <p:cNvSpPr/>
          <p:nvPr/>
        </p:nvSpPr>
        <p:spPr>
          <a:xfrm>
            <a:off x="2194560" y="297180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331720" y="2971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B26"/>
                </a:solidFill>
              </a:rPr>
              <a:t>Скотч 48 мм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1B26"/>
                </a:solidFill>
              </a:rPr>
              <a:t>0</a:t>
            </a:r>
            <a:endParaRPr lang="en-US" sz="1100" dirty="0"/>
          </a:p>
        </p:txBody>
      </p:sp>
      <p:sp>
        <p:nvSpPr>
          <p:cNvPr id="22" name="Макет: шкала 1-1"/>
          <p:cNvSpPr/>
          <p:nvPr/>
        </p:nvSpPr>
        <p:spPr>
          <a:xfrm>
            <a:off x="4526280" y="3145536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23" name="Макет: шкала 1-2"/>
          <p:cNvSpPr/>
          <p:nvPr/>
        </p:nvSpPr>
        <p:spPr>
          <a:xfrm>
            <a:off x="4617720" y="3145536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24" name="Макет: шкала 1-3"/>
          <p:cNvSpPr/>
          <p:nvPr/>
        </p:nvSpPr>
        <p:spPr>
          <a:xfrm>
            <a:off x="4709160" y="3145536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25" name="Макет: шкала 1-4"/>
          <p:cNvSpPr/>
          <p:nvPr/>
        </p:nvSpPr>
        <p:spPr>
          <a:xfrm>
            <a:off x="4800600" y="3145536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26" name="Макет: шкала 1-5"/>
          <p:cNvSpPr/>
          <p:nvPr/>
        </p:nvSpPr>
        <p:spPr>
          <a:xfrm>
            <a:off x="4892040" y="3145536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27" name="Макет: шкала 1-6"/>
          <p:cNvSpPr/>
          <p:nvPr/>
        </p:nvSpPr>
        <p:spPr>
          <a:xfrm>
            <a:off x="4983480" y="3145536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28" name="Макет: шкала 1-7"/>
          <p:cNvSpPr/>
          <p:nvPr/>
        </p:nvSpPr>
        <p:spPr>
          <a:xfrm>
            <a:off x="5074920" y="3145536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29" name="Макет: шкала 1-8"/>
          <p:cNvSpPr/>
          <p:nvPr/>
        </p:nvSpPr>
        <p:spPr>
          <a:xfrm>
            <a:off x="5166360" y="3145536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30" name="Макет: статус 1"/>
          <p:cNvSpPr/>
          <p:nvPr/>
        </p:nvSpPr>
        <p:spPr>
          <a:xfrm>
            <a:off x="5577840" y="3063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8D7D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577840" y="3063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62C"/>
                </a:solidFill>
              </a:rPr>
              <a:t>Нет</a:t>
            </a:r>
            <a:endParaRPr lang="en-US" sz="1000" dirty="0"/>
          </a:p>
        </p:txBody>
      </p:sp>
      <p:sp>
        <p:nvSpPr>
          <p:cNvPr id="32" name="Макет: строка 2"/>
          <p:cNvSpPr/>
          <p:nvPr/>
        </p:nvSpPr>
        <p:spPr>
          <a:xfrm>
            <a:off x="2194560" y="3502152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31720" y="35021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B26"/>
                </a:solidFill>
              </a:rPr>
              <a:t>Плёнка 500 мм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840480" y="35021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1B26"/>
                </a:solidFill>
              </a:rPr>
              <a:t>18</a:t>
            </a:r>
            <a:endParaRPr lang="en-US" sz="1100" dirty="0"/>
          </a:p>
        </p:txBody>
      </p:sp>
      <p:sp>
        <p:nvSpPr>
          <p:cNvPr id="35" name="Макет: шкала 2-1"/>
          <p:cNvSpPr/>
          <p:nvPr/>
        </p:nvSpPr>
        <p:spPr>
          <a:xfrm>
            <a:off x="4526280" y="3675888"/>
            <a:ext cx="64008" cy="109728"/>
          </a:xfrm>
          <a:prstGeom prst="rect">
            <a:avLst/>
          </a:prstGeom>
          <a:solidFill>
            <a:srgbClr val="9A5B00"/>
          </a:solidFill>
          <a:ln/>
        </p:spPr>
      </p:sp>
      <p:sp>
        <p:nvSpPr>
          <p:cNvPr id="36" name="Макет: шкала 2-2"/>
          <p:cNvSpPr/>
          <p:nvPr/>
        </p:nvSpPr>
        <p:spPr>
          <a:xfrm>
            <a:off x="4617720" y="3675888"/>
            <a:ext cx="64008" cy="109728"/>
          </a:xfrm>
          <a:prstGeom prst="rect">
            <a:avLst/>
          </a:prstGeom>
          <a:solidFill>
            <a:srgbClr val="9A5B00"/>
          </a:solidFill>
          <a:ln/>
        </p:spPr>
      </p:sp>
      <p:sp>
        <p:nvSpPr>
          <p:cNvPr id="37" name="Макет: шкала 2-3"/>
          <p:cNvSpPr/>
          <p:nvPr/>
        </p:nvSpPr>
        <p:spPr>
          <a:xfrm>
            <a:off x="4709160" y="3675888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38" name="Макет: шкала 2-4"/>
          <p:cNvSpPr/>
          <p:nvPr/>
        </p:nvSpPr>
        <p:spPr>
          <a:xfrm>
            <a:off x="4800600" y="3675888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39" name="Макет: шкала 2-5"/>
          <p:cNvSpPr/>
          <p:nvPr/>
        </p:nvSpPr>
        <p:spPr>
          <a:xfrm>
            <a:off x="4892040" y="3675888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40" name="Макет: шкала 2-6"/>
          <p:cNvSpPr/>
          <p:nvPr/>
        </p:nvSpPr>
        <p:spPr>
          <a:xfrm>
            <a:off x="4983480" y="3675888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41" name="Макет: шкала 2-7"/>
          <p:cNvSpPr/>
          <p:nvPr/>
        </p:nvSpPr>
        <p:spPr>
          <a:xfrm>
            <a:off x="5074920" y="3675888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42" name="Макет: шкала 2-8"/>
          <p:cNvSpPr/>
          <p:nvPr/>
        </p:nvSpPr>
        <p:spPr>
          <a:xfrm>
            <a:off x="5166360" y="3675888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43" name="Макет: статус 2"/>
          <p:cNvSpPr/>
          <p:nvPr/>
        </p:nvSpPr>
        <p:spPr>
          <a:xfrm>
            <a:off x="5577840" y="359359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FEFC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577840" y="35935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B00"/>
                </a:solidFill>
              </a:rPr>
              <a:t>Мало</a:t>
            </a:r>
            <a:endParaRPr lang="en-US" sz="1000" dirty="0"/>
          </a:p>
        </p:txBody>
      </p:sp>
      <p:sp>
        <p:nvSpPr>
          <p:cNvPr id="45" name="Макет: строка 3"/>
          <p:cNvSpPr/>
          <p:nvPr/>
        </p:nvSpPr>
        <p:spPr>
          <a:xfrm>
            <a:off x="2194560" y="4032504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331720" y="40325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B26"/>
                </a:solidFill>
              </a:rPr>
              <a:t>Перчатки L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840480" y="40325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1B26"/>
                </a:solidFill>
              </a:rPr>
              <a:t>36</a:t>
            </a:r>
            <a:endParaRPr lang="en-US" sz="1100" dirty="0"/>
          </a:p>
        </p:txBody>
      </p:sp>
      <p:sp>
        <p:nvSpPr>
          <p:cNvPr id="48" name="Макет: шкала 3-1"/>
          <p:cNvSpPr/>
          <p:nvPr/>
        </p:nvSpPr>
        <p:spPr>
          <a:xfrm>
            <a:off x="4526280" y="4206240"/>
            <a:ext cx="64008" cy="109728"/>
          </a:xfrm>
          <a:prstGeom prst="rect">
            <a:avLst/>
          </a:prstGeom>
          <a:solidFill>
            <a:srgbClr val="9A5B00"/>
          </a:solidFill>
          <a:ln/>
        </p:spPr>
      </p:sp>
      <p:sp>
        <p:nvSpPr>
          <p:cNvPr id="49" name="Макет: шкала 3-2"/>
          <p:cNvSpPr/>
          <p:nvPr/>
        </p:nvSpPr>
        <p:spPr>
          <a:xfrm>
            <a:off x="4617720" y="4206240"/>
            <a:ext cx="64008" cy="109728"/>
          </a:xfrm>
          <a:prstGeom prst="rect">
            <a:avLst/>
          </a:prstGeom>
          <a:solidFill>
            <a:srgbClr val="9A5B00"/>
          </a:solidFill>
          <a:ln/>
        </p:spPr>
      </p:sp>
      <p:sp>
        <p:nvSpPr>
          <p:cNvPr id="50" name="Макет: шкала 3-3"/>
          <p:cNvSpPr/>
          <p:nvPr/>
        </p:nvSpPr>
        <p:spPr>
          <a:xfrm>
            <a:off x="4709160" y="4206240"/>
            <a:ext cx="64008" cy="109728"/>
          </a:xfrm>
          <a:prstGeom prst="rect">
            <a:avLst/>
          </a:prstGeom>
          <a:solidFill>
            <a:srgbClr val="9A5B00"/>
          </a:solidFill>
          <a:ln/>
        </p:spPr>
      </p:sp>
      <p:sp>
        <p:nvSpPr>
          <p:cNvPr id="51" name="Макет: шкала 3-4"/>
          <p:cNvSpPr/>
          <p:nvPr/>
        </p:nvSpPr>
        <p:spPr>
          <a:xfrm>
            <a:off x="4800600" y="4206240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52" name="Макет: шкала 3-5"/>
          <p:cNvSpPr/>
          <p:nvPr/>
        </p:nvSpPr>
        <p:spPr>
          <a:xfrm>
            <a:off x="4892040" y="4206240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53" name="Макет: шкала 3-6"/>
          <p:cNvSpPr/>
          <p:nvPr/>
        </p:nvSpPr>
        <p:spPr>
          <a:xfrm>
            <a:off x="4983480" y="4206240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54" name="Макет: шкала 3-7"/>
          <p:cNvSpPr/>
          <p:nvPr/>
        </p:nvSpPr>
        <p:spPr>
          <a:xfrm>
            <a:off x="5074920" y="4206240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55" name="Макет: шкала 3-8"/>
          <p:cNvSpPr/>
          <p:nvPr/>
        </p:nvSpPr>
        <p:spPr>
          <a:xfrm>
            <a:off x="5166360" y="4206240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56" name="Макет: статус 3"/>
          <p:cNvSpPr/>
          <p:nvPr/>
        </p:nvSpPr>
        <p:spPr>
          <a:xfrm>
            <a:off x="5577840" y="412394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FEFC7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5577840" y="41239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5B00"/>
                </a:solidFill>
              </a:rPr>
              <a:t>Мало</a:t>
            </a:r>
            <a:endParaRPr lang="en-US" sz="1000" dirty="0"/>
          </a:p>
        </p:txBody>
      </p:sp>
      <p:sp>
        <p:nvSpPr>
          <p:cNvPr id="58" name="Макет: строка 4"/>
          <p:cNvSpPr/>
          <p:nvPr/>
        </p:nvSpPr>
        <p:spPr>
          <a:xfrm>
            <a:off x="2194560" y="4562856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2331720" y="45628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B26"/>
                </a:solidFill>
              </a:rPr>
              <a:t>Паллета EUR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3840480" y="45628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1B26"/>
                </a:solidFill>
              </a:rPr>
              <a:t>120</a:t>
            </a:r>
            <a:endParaRPr lang="en-US" sz="1100" dirty="0"/>
          </a:p>
        </p:txBody>
      </p:sp>
      <p:sp>
        <p:nvSpPr>
          <p:cNvPr id="61" name="Макет: шкала 4-1"/>
          <p:cNvSpPr/>
          <p:nvPr/>
        </p:nvSpPr>
        <p:spPr>
          <a:xfrm>
            <a:off x="4526280" y="4736592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62" name="Макет: шкала 4-2"/>
          <p:cNvSpPr/>
          <p:nvPr/>
        </p:nvSpPr>
        <p:spPr>
          <a:xfrm>
            <a:off x="4617720" y="4736592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63" name="Макет: шкала 4-3"/>
          <p:cNvSpPr/>
          <p:nvPr/>
        </p:nvSpPr>
        <p:spPr>
          <a:xfrm>
            <a:off x="4709160" y="4736592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64" name="Макет: шкала 4-4"/>
          <p:cNvSpPr/>
          <p:nvPr/>
        </p:nvSpPr>
        <p:spPr>
          <a:xfrm>
            <a:off x="4800600" y="4736592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65" name="Макет: шкала 4-5"/>
          <p:cNvSpPr/>
          <p:nvPr/>
        </p:nvSpPr>
        <p:spPr>
          <a:xfrm>
            <a:off x="4892040" y="4736592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66" name="Макет: шкала 4-6"/>
          <p:cNvSpPr/>
          <p:nvPr/>
        </p:nvSpPr>
        <p:spPr>
          <a:xfrm>
            <a:off x="4983480" y="4736592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67" name="Макет: шкала 4-7"/>
          <p:cNvSpPr/>
          <p:nvPr/>
        </p:nvSpPr>
        <p:spPr>
          <a:xfrm>
            <a:off x="5074920" y="4736592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68" name="Макет: шкала 4-8"/>
          <p:cNvSpPr/>
          <p:nvPr/>
        </p:nvSpPr>
        <p:spPr>
          <a:xfrm>
            <a:off x="5166360" y="4736592"/>
            <a:ext cx="64008" cy="109728"/>
          </a:xfrm>
          <a:prstGeom prst="rect">
            <a:avLst/>
          </a:prstGeom>
          <a:solidFill>
            <a:srgbClr val="E1E5EB"/>
          </a:solidFill>
          <a:ln/>
        </p:spPr>
      </p:sp>
      <p:sp>
        <p:nvSpPr>
          <p:cNvPr id="69" name="Макет: статус 4"/>
          <p:cNvSpPr/>
          <p:nvPr/>
        </p:nvSpPr>
        <p:spPr>
          <a:xfrm>
            <a:off x="5577840" y="4654296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D6F0E3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5577840" y="465429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E5A"/>
                </a:solidFill>
              </a:rPr>
              <a:t>Есть</a:t>
            </a:r>
            <a:endParaRPr lang="en-US" sz="1000" dirty="0"/>
          </a:p>
        </p:txBody>
      </p:sp>
      <p:sp>
        <p:nvSpPr>
          <p:cNvPr id="71" name="Макет: строка 5"/>
          <p:cNvSpPr/>
          <p:nvPr/>
        </p:nvSpPr>
        <p:spPr>
          <a:xfrm>
            <a:off x="2194560" y="5093208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2331720" y="50932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B26"/>
                </a:solidFill>
              </a:rPr>
              <a:t>Коробка 40×30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3840480" y="5093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1B26"/>
                </a:solidFill>
              </a:rPr>
              <a:t>640</a:t>
            </a:r>
            <a:endParaRPr lang="en-US" sz="1100" dirty="0"/>
          </a:p>
        </p:txBody>
      </p:sp>
      <p:sp>
        <p:nvSpPr>
          <p:cNvPr id="74" name="Макет: шкала 5-1"/>
          <p:cNvSpPr/>
          <p:nvPr/>
        </p:nvSpPr>
        <p:spPr>
          <a:xfrm>
            <a:off x="4526280" y="5266944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75" name="Макет: шкала 5-2"/>
          <p:cNvSpPr/>
          <p:nvPr/>
        </p:nvSpPr>
        <p:spPr>
          <a:xfrm>
            <a:off x="4617720" y="5266944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76" name="Макет: шкала 5-3"/>
          <p:cNvSpPr/>
          <p:nvPr/>
        </p:nvSpPr>
        <p:spPr>
          <a:xfrm>
            <a:off x="4709160" y="5266944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77" name="Макет: шкала 5-4"/>
          <p:cNvSpPr/>
          <p:nvPr/>
        </p:nvSpPr>
        <p:spPr>
          <a:xfrm>
            <a:off x="4800600" y="5266944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78" name="Макет: шкала 5-5"/>
          <p:cNvSpPr/>
          <p:nvPr/>
        </p:nvSpPr>
        <p:spPr>
          <a:xfrm>
            <a:off x="4892040" y="5266944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79" name="Макет: шкала 5-6"/>
          <p:cNvSpPr/>
          <p:nvPr/>
        </p:nvSpPr>
        <p:spPr>
          <a:xfrm>
            <a:off x="4983480" y="5266944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80" name="Макет: шкала 5-7"/>
          <p:cNvSpPr/>
          <p:nvPr/>
        </p:nvSpPr>
        <p:spPr>
          <a:xfrm>
            <a:off x="5074920" y="5266944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81" name="Макет: шкала 5-8"/>
          <p:cNvSpPr/>
          <p:nvPr/>
        </p:nvSpPr>
        <p:spPr>
          <a:xfrm>
            <a:off x="5166360" y="5266944"/>
            <a:ext cx="64008" cy="109728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82" name="Макет: статус 5"/>
          <p:cNvSpPr/>
          <p:nvPr/>
        </p:nvSpPr>
        <p:spPr>
          <a:xfrm>
            <a:off x="5577840" y="518464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D6F0E3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5577840" y="51846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E5A"/>
                </a:solidFill>
              </a:rPr>
              <a:t>Есть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548640" y="58521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Схема экрана «Остатки»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7589520" y="13716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демонстрации</a:t>
            </a:r>
            <a:endParaRPr lang="en-US" sz="2000" dirty="0"/>
          </a:p>
        </p:txBody>
      </p:sp>
      <p:sp>
        <p:nvSpPr>
          <p:cNvPr id="86" name="Шаг демо 1"/>
          <p:cNvSpPr/>
          <p:nvPr/>
        </p:nvSpPr>
        <p:spPr>
          <a:xfrm>
            <a:off x="7589520" y="1920240"/>
            <a:ext cx="548640" cy="548640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7589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1F"/>
                </a:solidFill>
              </a:rPr>
              <a:t>1</a:t>
            </a:r>
            <a:endParaRPr lang="en-US" sz="1600" dirty="0"/>
          </a:p>
        </p:txBody>
      </p:sp>
      <p:sp>
        <p:nvSpPr>
          <p:cNvPr id="88" name="Text 86"/>
          <p:cNvSpPr txBox="1"/>
          <p:nvPr/>
        </p:nvSpPr>
        <p:spPr>
          <a:xfrm>
            <a:off x="8321040" y="1920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Поиск «плёнка», фильтр «Нужно пополнить»</a:t>
            </a:r>
            <a:endParaRPr lang="en-US" sz="1500" dirty="0"/>
          </a:p>
        </p:txBody>
      </p:sp>
      <p:sp>
        <p:nvSpPr>
          <p:cNvPr id="89" name="Шаг демо 2"/>
          <p:cNvSpPr/>
          <p:nvPr/>
        </p:nvSpPr>
        <p:spPr>
          <a:xfrm>
            <a:off x="7589520" y="2697480"/>
            <a:ext cx="548640" cy="548640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75895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1F"/>
                </a:solidFill>
              </a:rPr>
              <a:t>2</a:t>
            </a:r>
            <a:endParaRPr lang="en-US" sz="1600" dirty="0"/>
          </a:p>
        </p:txBody>
      </p:sp>
      <p:sp>
        <p:nvSpPr>
          <p:cNvPr id="91" name="Text 89"/>
          <p:cNvSpPr txBox="1"/>
          <p:nvPr/>
        </p:nvSpPr>
        <p:spPr>
          <a:xfrm>
            <a:off x="832104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Провести черновик накладной ПН-0003</a:t>
            </a:r>
            <a:endParaRPr lang="en-US" sz="1500" dirty="0"/>
          </a:p>
        </p:txBody>
      </p:sp>
      <p:sp>
        <p:nvSpPr>
          <p:cNvPr id="92" name="Шаг демо 3"/>
          <p:cNvSpPr/>
          <p:nvPr/>
        </p:nvSpPr>
        <p:spPr>
          <a:xfrm>
            <a:off x="7589520" y="3474720"/>
            <a:ext cx="548640" cy="548640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75895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1F"/>
                </a:solidFill>
              </a:rPr>
              <a:t>3</a:t>
            </a:r>
            <a:endParaRPr lang="en-US" sz="1600" dirty="0"/>
          </a:p>
        </p:txBody>
      </p:sp>
      <p:sp>
        <p:nvSpPr>
          <p:cNvPr id="94" name="Text 92"/>
          <p:cNvSpPr txBox="1"/>
          <p:nvPr/>
        </p:nvSpPr>
        <p:spPr>
          <a:xfrm>
            <a:off x="8321040" y="3474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Акт списания на 500: строка краснеет</a:t>
            </a:r>
            <a:endParaRPr lang="en-US" sz="1500" dirty="0"/>
          </a:p>
        </p:txBody>
      </p:sp>
      <p:sp>
        <p:nvSpPr>
          <p:cNvPr id="95" name="Шаг демо 4"/>
          <p:cNvSpPr/>
          <p:nvPr/>
        </p:nvSpPr>
        <p:spPr>
          <a:xfrm>
            <a:off x="7589520" y="4251960"/>
            <a:ext cx="548640" cy="548640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7589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1F"/>
                </a:solidFill>
              </a:rPr>
              <a:t>4</a:t>
            </a:r>
            <a:endParaRPr lang="en-US" sz="1600" dirty="0"/>
          </a:p>
        </p:txBody>
      </p:sp>
      <p:sp>
        <p:nvSpPr>
          <p:cNvPr id="97" name="Text 95"/>
          <p:cNvSpPr txBox="1"/>
          <p:nvPr/>
        </p:nvSpPr>
        <p:spPr>
          <a:xfrm>
            <a:off x="8321040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Списать 15: предупреждение о минимуме</a:t>
            </a:r>
            <a:endParaRPr lang="en-US" sz="1500" dirty="0"/>
          </a:p>
        </p:txBody>
      </p:sp>
      <p:sp>
        <p:nvSpPr>
          <p:cNvPr id="98" name="Шаг демо 5"/>
          <p:cNvSpPr/>
          <p:nvPr/>
        </p:nvSpPr>
        <p:spPr>
          <a:xfrm>
            <a:off x="7589520" y="5029200"/>
            <a:ext cx="548640" cy="548640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758952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31F"/>
                </a:solidFill>
              </a:rPr>
              <a:t>5</a:t>
            </a:r>
            <a:endParaRPr lang="en-US" sz="1600" dirty="0"/>
          </a:p>
        </p:txBody>
      </p:sp>
      <p:sp>
        <p:nvSpPr>
          <p:cNvPr id="100" name="Text 98"/>
          <p:cNvSpPr txBox="1"/>
          <p:nvPr/>
        </p:nvSpPr>
        <p:spPr>
          <a:xfrm>
            <a:off x="8321040" y="5029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Правка документа и журнал операций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Результаты тестирования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из 18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тест-кейсов PASS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Запуск: npm test (Node.js). Те же тесты есть во вкладке «Проверка работы». Интерфейс проверяется вручную по чек-листу.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297680" y="1371600"/>
          <a:ext cx="3840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Панель дефектов"/>
          <p:cNvSpPr/>
          <p:nvPr/>
        </p:nvSpPr>
        <p:spPr>
          <a:xfrm>
            <a:off x="8412480" y="1371600"/>
            <a:ext cx="3227832" cy="4206240"/>
          </a:xfrm>
          <a:prstGeom prst="roundRect">
            <a:avLst>
              <a:gd name="adj" fmla="val 339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4108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Найдено и исправлено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01168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Нет документов: добавлены накладная и акт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Поставщик текстом: справочник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Нельзя править проведённое: откат и повторное проведение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Нехватка видна поздно: подсветка при вводе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GitHub, README и вклад автора</a:t>
            </a:r>
            <a:endParaRPr lang="en-US" sz="3400" dirty="0"/>
          </a:p>
        </p:txBody>
      </p:sp>
      <p:sp>
        <p:nvSpPr>
          <p:cNvPr id="3" name="Панель структуры"/>
          <p:cNvSpPr/>
          <p:nvPr/>
        </p:nvSpPr>
        <p:spPr>
          <a:xfrm>
            <a:off x="548640" y="1417320"/>
            <a:ext cx="5212080" cy="4343400"/>
          </a:xfrm>
          <a:prstGeom prst="roundRect">
            <a:avLst>
              <a:gd name="adj" fmla="val 2526"/>
            </a:avLst>
          </a:prstGeom>
          <a:solidFill>
            <a:srgbClr val="F1F3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5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stellazh-sklad/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5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README.md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5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5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index.html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5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css/styles.css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5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js/logic.js, app.js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5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tests/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5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test-cases.js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5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run-tests.js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5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5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screenshots/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15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presentation/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коммитов</a:t>
            </a:r>
            <a:endParaRPr lang="en-US" sz="2000" dirty="0"/>
          </a:p>
        </p:txBody>
      </p:sp>
      <p:sp>
        <p:nvSpPr>
          <p:cNvPr id="6" name="Коммит 1"/>
          <p:cNvSpPr/>
          <p:nvPr/>
        </p:nvSpPr>
        <p:spPr>
          <a:xfrm>
            <a:off x="6309360" y="2011680"/>
            <a:ext cx="201168" cy="201168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202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I1: остатки, поиск, быстрые операции</a:t>
            </a:r>
            <a:endParaRPr lang="en-US" sz="1500" dirty="0"/>
          </a:p>
        </p:txBody>
      </p:sp>
      <p:sp>
        <p:nvSpPr>
          <p:cNvPr id="8" name="Коммит 2"/>
          <p:cNvSpPr/>
          <p:nvPr/>
        </p:nvSpPr>
        <p:spPr>
          <a:xfrm>
            <a:off x="6309360" y="2468880"/>
            <a:ext cx="201168" cy="201168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0" y="23774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I2: документы прихода и списания</a:t>
            </a:r>
            <a:endParaRPr lang="en-US" sz="1500" dirty="0"/>
          </a:p>
        </p:txBody>
      </p:sp>
      <p:sp>
        <p:nvSpPr>
          <p:cNvPr id="10" name="Коммит 3"/>
          <p:cNvSpPr/>
          <p:nvPr/>
        </p:nvSpPr>
        <p:spPr>
          <a:xfrm>
            <a:off x="6309360" y="2926080"/>
            <a:ext cx="201168" cy="201168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8346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I3: справочник контрагентов</a:t>
            </a:r>
            <a:endParaRPr lang="en-US" sz="1500" dirty="0"/>
          </a:p>
        </p:txBody>
      </p:sp>
      <p:sp>
        <p:nvSpPr>
          <p:cNvPr id="12" name="Коммит 4"/>
          <p:cNvSpPr/>
          <p:nvPr/>
        </p:nvSpPr>
        <p:spPr>
          <a:xfrm>
            <a:off x="6309360" y="3383280"/>
            <a:ext cx="201168" cy="201168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0" y="32918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I4: правка проведённых документов</a:t>
            </a:r>
            <a:endParaRPr lang="en-US" sz="1500" dirty="0"/>
          </a:p>
        </p:txBody>
      </p:sp>
      <p:sp>
        <p:nvSpPr>
          <p:cNvPr id="14" name="Коммит 5"/>
          <p:cNvSpPr/>
          <p:nvPr/>
        </p:nvSpPr>
        <p:spPr>
          <a:xfrm>
            <a:off x="6309360" y="3840480"/>
            <a:ext cx="201168" cy="201168"/>
          </a:xfrm>
          <a:prstGeom prst="ellipse">
            <a:avLst/>
          </a:prstGeom>
          <a:solidFill>
            <a:srgbClr val="FFC3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37490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I5: контроль остатка, модули, тесты</a:t>
            </a:r>
            <a:endParaRPr lang="en-US" sz="1500" dirty="0"/>
          </a:p>
        </p:txBody>
      </p:sp>
      <p:sp>
        <p:nvSpPr>
          <p:cNvPr id="16" name="Коммит 6"/>
          <p:cNvSpPr/>
          <p:nvPr/>
        </p:nvSpPr>
        <p:spPr>
          <a:xfrm>
            <a:off x="6309360" y="4297680"/>
            <a:ext cx="201168" cy="201168"/>
          </a:xfrm>
          <a:prstGeom prst="ellipse">
            <a:avLst/>
          </a:prstGeom>
          <a:solidFill>
            <a:srgbClr val="151B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75120" y="42062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Документация и README</a:t>
            </a:r>
            <a:endParaRPr lang="en-US" sz="1500" dirty="0"/>
          </a:p>
        </p:txBody>
      </p:sp>
      <p:sp>
        <p:nvSpPr>
          <p:cNvPr id="18" name="Панель вклада"/>
          <p:cNvSpPr/>
          <p:nvPr/>
        </p:nvSpPr>
        <p:spPr>
          <a:xfrm>
            <a:off x="6309360" y="4754880"/>
            <a:ext cx="5330952" cy="1005840"/>
          </a:xfrm>
          <a:prstGeom prst="roundRect">
            <a:avLst>
              <a:gd name="adj" fmla="val 10909"/>
            </a:avLst>
          </a:prstGeom>
          <a:solidFill>
            <a:srgbClr val="FFF3C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475488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B26"/>
                </a:solidFill>
              </a:rPr>
              <a:t>Вклад автора: </a:t>
            </a:r>
            <a:pPr indent="0" marL="0">
              <a:buNone/>
            </a:pPr>
            <a:r>
              <a:rPr lang="en-US" sz="1500" dirty="0">
                <a:solidFill>
                  <a:srgbClr val="151B26"/>
                </a:solidFill>
              </a:rPr>
              <a:t>[кратко: что сделано лично, какие решения принял]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Выводы и перспективы</a:t>
            </a:r>
            <a:endParaRPr lang="en-US" sz="3400" dirty="0"/>
          </a:p>
        </p:txBody>
      </p:sp>
      <p:sp>
        <p:nvSpPr>
          <p:cNvPr id="3" name="Панель выводов"/>
          <p:cNvSpPr/>
          <p:nvPr/>
        </p:nvSpPr>
        <p:spPr>
          <a:xfrm>
            <a:off x="548640" y="146304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2B34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получилось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Приход, списание, контроль остатка и поиск работают через документы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Логика отделена от интерфейса и проверена 18 тестами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Инкрементная модель помогла уточнять требования по ходу</a:t>
            </a:r>
            <a:endParaRPr lang="en-US" sz="1700" dirty="0"/>
          </a:p>
        </p:txBody>
      </p:sp>
      <p:sp>
        <p:nvSpPr>
          <p:cNvPr id="6" name="Панель перспектив"/>
          <p:cNvSpPr/>
          <p:nvPr/>
        </p:nvSpPr>
        <p:spPr>
          <a:xfrm>
            <a:off x="6245352" y="146304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2B34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19672" y="1691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дальше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2402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Серверная часть и работа нескольких пользователей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Роли и вход по логину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Контроль остатка на дату и резервирование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Импорт, экспорт в Excel и печатные формы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внимание. Готов ответить на вопросы.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llazh">
  <a:themeElements>
    <a:clrScheme name="Stellazh">
      <a:dk1>
        <a:srgbClr val="151B26"/>
      </a:dk1>
      <a:lt1>
        <a:srgbClr val="FFFFFF"/>
      </a:lt1>
      <a:dk2>
        <a:srgbClr val="2B3445"/>
      </a:dk2>
      <a:lt2>
        <a:srgbClr val="F1F3F6"/>
      </a:lt2>
      <a:accent1>
        <a:srgbClr val="FFC31F"/>
      </a:accent1>
      <a:accent2>
        <a:srgbClr val="1E8E5A"/>
      </a:accent2>
      <a:accent3>
        <a:srgbClr val="C0362C"/>
      </a:accent3>
      <a:accent4>
        <a:srgbClr val="9A5B00"/>
      </a:accent4>
      <a:accent5>
        <a:srgbClr val="667085"/>
      </a:accent5>
      <a:accent6>
        <a:srgbClr val="2F5BFF"/>
      </a:accent6>
      <a:hlink>
        <a:srgbClr val="2F5BFF"/>
      </a:hlink>
      <a:folHlink>
        <a:srgbClr val="667085"/>
      </a:folHlink>
    </a:clrScheme>
    <a:fontScheme name="Stellaz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Стеллаж — учёт складских запасов</dc:title>
  <dc:subject>PptxGenJS Presentation</dc:subject>
  <dc:creator>Студент</dc:creator>
  <cp:lastModifiedBy>Студент</cp:lastModifiedBy>
  <cp:revision>1</cp:revision>
  <dcterms:created xsi:type="dcterms:W3CDTF">2026-10-12T07:21:56Z</dcterms:created>
  <dcterms:modified xsi:type="dcterms:W3CDTF">2026-10-12T07:21:56Z</dcterms:modified>
</cp:coreProperties>
</file>